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b82fcae8-812f-0e56-b24a-674968aad0d2}">
          <p14:sldIdLst>
            <p14:sldId id="256"/>
          </p14:sldIdLst>
        </p14:section>
        <p14:section name="Problem" id="{b7169abf-b643-9fb3-7520-46815db65b05}">
          <p14:sldIdLst>
            <p14:sldId id="257"/>
          </p14:sldIdLst>
        </p14:section>
        <p14:section name="Evidence" id="{8bada85f-c0b2-4fca-ff1d-cd94e2dc55e5}">
          <p14:sldIdLst>
            <p14:sldId id="258"/>
            <p14:sldId id="259"/>
          </p14:sldIdLst>
        </p14:section>
        <p14:section name="Recommendation" id="{7ae327da-5b07-95bf-d20a-ae1447c2f744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0F3D5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0.102</c:v>
                </c:pt>
                <c:pt idx="1">
                  <c:v>0.131</c:v>
                </c:pt>
                <c:pt idx="2">
                  <c:v>0.134</c:v>
                </c:pt>
                <c:pt idx="3">
                  <c:v>0.127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F3D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8452D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C8452D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C8452D"/>
              </a:solidFill>
              <a:effectLst/>
            </c:spPr>
          </c:dPt>
          <c:cat>
            <c:multiLvlStrRef>
              <c:f>Sheet1!$A$2:$A$18</c:f>
              <c:multiLvlStrCache>
                <c:ptCount val="17"/>
                <c:lvl>
                  <c:pt idx="0">
                    <c:v>Copiers</c:v>
                  </c:pt>
                  <c:pt idx="1">
                    <c:v>Phones</c:v>
                  </c:pt>
                  <c:pt idx="2">
                    <c:v>Accessories</c:v>
                  </c:pt>
                  <c:pt idx="3">
                    <c:v>Paper</c:v>
                  </c:pt>
                  <c:pt idx="4">
                    <c:v>Binders</c:v>
                  </c:pt>
                  <c:pt idx="5">
                    <c:v>Chairs</c:v>
                  </c:pt>
                  <c:pt idx="6">
                    <c:v>Storage</c:v>
                  </c:pt>
                  <c:pt idx="7">
                    <c:v>Appliances</c:v>
                  </c:pt>
                  <c:pt idx="8">
                    <c:v>Furnishings</c:v>
                  </c:pt>
                  <c:pt idx="9">
                    <c:v>Envelopes</c:v>
                  </c:pt>
                  <c:pt idx="10">
                    <c:v>Art</c:v>
                  </c:pt>
                  <c:pt idx="11">
                    <c:v>Labels</c:v>
                  </c:pt>
                  <c:pt idx="12">
                    <c:v>Machines</c:v>
                  </c:pt>
                  <c:pt idx="13">
                    <c:v>Fasteners</c:v>
                  </c:pt>
                  <c:pt idx="14">
                    <c:v>Supplies</c:v>
                  </c:pt>
                  <c:pt idx="15">
                    <c:v>Bookcases</c:v>
                  </c:pt>
                  <c:pt idx="16">
                    <c:v>Tables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55618</c:v>
                </c:pt>
                <c:pt idx="1">
                  <c:v>44516</c:v>
                </c:pt>
                <c:pt idx="2">
                  <c:v>41937</c:v>
                </c:pt>
                <c:pt idx="3">
                  <c:v>34054</c:v>
                </c:pt>
                <c:pt idx="4">
                  <c:v>30222</c:v>
                </c:pt>
                <c:pt idx="5">
                  <c:v>26590</c:v>
                </c:pt>
                <c:pt idx="6">
                  <c:v>21279</c:v>
                </c:pt>
                <c:pt idx="7">
                  <c:v>18138</c:v>
                </c:pt>
                <c:pt idx="8">
                  <c:v>13059</c:v>
                </c:pt>
                <c:pt idx="9">
                  <c:v>6964</c:v>
                </c:pt>
                <c:pt idx="10">
                  <c:v>6528</c:v>
                </c:pt>
                <c:pt idx="11">
                  <c:v>5546</c:v>
                </c:pt>
                <c:pt idx="12">
                  <c:v>3385</c:v>
                </c:pt>
                <c:pt idx="13">
                  <c:v>950</c:v>
                </c:pt>
                <c:pt idx="14">
                  <c:v>-1189</c:v>
                </c:pt>
                <c:pt idx="15">
                  <c:v>-3473</c:v>
                </c:pt>
                <c:pt idx="16">
                  <c:v>-17725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0F3D5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3D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45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45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452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452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None</c:v>
                  </c:pt>
                  <c:pt idx="1">
                    <c:v>1–10%</c:v>
                  </c:pt>
                  <c:pt idx="2">
                    <c:v>11–20%</c:v>
                  </c:pt>
                  <c:pt idx="3">
                    <c:v>21–30%</c:v>
                  </c:pt>
                  <c:pt idx="4">
                    <c:v>31–40%</c:v>
                  </c:pt>
                  <c:pt idx="5">
                    <c:v>41–50%</c:v>
                  </c:pt>
                  <c:pt idx="6">
                    <c:v>Over 50%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0.295</c:v>
                </c:pt>
                <c:pt idx="1">
                  <c:v>0.166</c:v>
                </c:pt>
                <c:pt idx="2">
                  <c:v>0.116</c:v>
                </c:pt>
                <c:pt idx="3">
                  <c:v>-0.1</c:v>
                </c:pt>
                <c:pt idx="4">
                  <c:v>-0.194</c:v>
                </c:pt>
                <c:pt idx="5">
                  <c:v>-0.357</c:v>
                </c:pt>
                <c:pt idx="6">
                  <c:v>-1.192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C8452D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45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0.277</c:v>
                </c:pt>
                <c:pt idx="1">
                  <c:v>0.162</c:v>
                </c:pt>
                <c:pt idx="2">
                  <c:v>0.106</c:v>
                </c:pt>
                <c:pt idx="3">
                  <c:v>0.037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 question: where is the business leaking profit, and what would fix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Lines with discount over 20% are 14% of order lines, generate $363K sales, and lose $135K combined.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Sales grew 56% from 2015 to 2017, but profit margin stalled at about 13%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Central question: Where is Superstore losing profit, and why?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Profit margin by year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463040"/>
            <a:ext cx="2468880" cy="301752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0" y="164592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5E"/>
                </a:solidFill>
              </a:rPr>
              <a:t>$2.30M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</a:rPr>
              <a:t>total sales</a:t>
            </a:r>
            <a:endParaRPr lang="en-US" sz="2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C8452D"/>
                </a:solidFill>
              </a:rPr>
              <a:t>$286K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</a:rPr>
              <a:t>total profit (12.5% margin)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</a:rPr>
              <a:t>Source: Sample Superstore dataset, 2014–2017 (9,994 order lines)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Three sub-categories lose money, led by Tables at –$17.7K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Profit by sub-category ($)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8046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</a:rPr>
              <a:t>Source: Sample Superstore dataset, 2014–2017 (9,994 order lines)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Once discounts pass 20%, the average order loses money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Profit margin by discount level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80467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</a:rPr>
              <a:t>Source: Sample Superstore dataset, 2014–2017 (9,994 order lines)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Central discounts heavily: 28% of its orders exceed 20% off, and its margin is lowest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Share of order lines with discount over 20%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63040"/>
            <a:ext cx="2468880" cy="301752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64592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A8F"/>
                </a:solidFill>
              </a:rPr>
              <a:t>Profit margin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8452D"/>
                </a:solidFill>
              </a:rPr>
              <a:t>Central  7.9%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3D5E"/>
                </a:solidFill>
              </a:rPr>
              <a:t>East  13.5%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3D5E"/>
                </a:solidFill>
              </a:rPr>
              <a:t>South  11.9%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3D5E"/>
                </a:solidFill>
              </a:rPr>
              <a:t>West  14.9%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</a:rPr>
              <a:t>Source: Sample Superstore dataset, 2014–2017 (9,994 order lines)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Capping discounts at 20% could add up to $135K profit, lifting margin from 12.5% to about 18%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46888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64008" cy="2468880"/>
          </a:xfrm>
          <a:prstGeom prst="rect">
            <a:avLst/>
          </a:prstGeom>
          <a:solidFill>
            <a:srgbClr val="C8452D"/>
          </a:solidFill>
          <a:ln w="12700">
            <a:solidFill>
              <a:srgbClr val="C845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452D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5E"/>
                </a:solidFill>
              </a:rPr>
              <a:t>Cap discounts at 20%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Require approval above 20%. These lines lose $135K on $363K of sales.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246888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463040"/>
            <a:ext cx="64008" cy="2468880"/>
          </a:xfrm>
          <a:prstGeom prst="rect">
            <a:avLst/>
          </a:prstGeom>
          <a:solidFill>
            <a:srgbClr val="C8452D"/>
          </a:solidFill>
          <a:ln w="12700">
            <a:solidFill>
              <a:srgbClr val="C845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452D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5E"/>
                </a:solidFill>
              </a:rPr>
              <a:t>Fix Tables and Bookcases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55% of Table lines and 31% of Bookcase lines are discounted over 20%. Reprice or delist.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560320" cy="246888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463040"/>
            <a:ext cx="64008" cy="2468880"/>
          </a:xfrm>
          <a:prstGeom prst="rect">
            <a:avLst/>
          </a:prstGeom>
          <a:solidFill>
            <a:srgbClr val="C8452D"/>
          </a:solidFill>
          <a:ln w="12700">
            <a:solidFill>
              <a:srgbClr val="C845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452D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5E"/>
                </a:solidFill>
              </a:rPr>
              <a:t>Start with Central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Its discount rate is 7x West’s. Align Central’s policy with West’s.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F"/>
                </a:solidFill>
              </a:rPr>
              <a:t>Impact is an upper bound: it assumes affected lines at least break even and sales volume holds.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</a:rPr>
              <a:t>Source: Sample Superstore dataset, 2014–2017 (9,994 order lines)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store Story">
  <a:themeElements>
    <a:clrScheme name="Superstore Story">
      <a:dk1>
        <a:srgbClr val="1F2937"/>
      </a:dk1>
      <a:lt1>
        <a:srgbClr val="FFFFFF"/>
      </a:lt1>
      <a:dk2>
        <a:srgbClr val="0F3D5E"/>
      </a:dk2>
      <a:lt2>
        <a:srgbClr val="F3F5F7"/>
      </a:lt2>
      <a:accent1>
        <a:srgbClr val="0F3D5E"/>
      </a:accent1>
      <a:accent2>
        <a:srgbClr val="C8452D"/>
      </a:accent2>
      <a:accent3>
        <a:srgbClr val="9AA5B1"/>
      </a:accent3>
      <a:accent4>
        <a:srgbClr val="2E7D6B"/>
      </a:accent4>
      <a:accent5>
        <a:srgbClr val="E0A030"/>
      </a:accent5>
      <a:accent6>
        <a:srgbClr val="6B7A8F"/>
      </a:accent6>
      <a:hlink>
        <a:srgbClr val="0F3D5E"/>
      </a:hlink>
      <a:folHlink>
        <a:srgbClr val="6B7A8F"/>
      </a:folHlink>
    </a:clrScheme>
    <a:fontScheme name="Superstore Stor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2026-10-04T08:59:54Z</dcterms:created>
  <dcterms:modified xsi:type="dcterms:W3CDTF">2026-10-04T08:59:54Z</dcterms:modified>
</cp:coreProperties>
</file>